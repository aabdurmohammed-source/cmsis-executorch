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4415C34-F1AC-A2DC-6BE8-BEADD9065126}">
          <p14:sldIdLst>
            <p14:sldId id="256"/>
            <p14:sldId id="257"/>
            <p14:sldId id="258"/>
            <p14:sldId id="259"/>
            <p14:sldId id="260"/>
          </p14:sldIdLst>
        </p14:section>
        <p14:section name="Tech" id="{E080BC0E-901C-2F6E-0156-9C305D3FE009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Experience" id="{BCE54937-E420-89D8-ED8F-0069BF0433FF}">
          <p14:sldIdLst>
            <p14:sldId id="267"/>
            <p14:sldId id="268"/>
            <p14:sldId id="269"/>
          </p14:sldIdLst>
        </p14:section>
        <p14:section name="Close" id="{39CB0B4C-08A3-12DC-EA54-3C51C6F37C1C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353" autoAdjust="0"/>
  </p:normalViewPr>
  <p:slideViewPr>
    <p:cSldViewPr snapToGrid="0" snapToObjects="1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1546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2A1546"/>
                </a:solidFill>
                <a:latin typeface="+mn-lt"/>
              </a:rPr>
              <a:t>NPU time per inference (ms)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15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Face detector</c:v>
                </c:pt>
                <c:pt idx="1">
                  <c:v>Bunny generator</c:v>
                </c:pt>
                <c:pt idx="2">
                  <c:v>Keyword spotter</c:v>
                </c:pt>
                <c:pt idx="3">
                  <c:v>Doodle reader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10.3</c:v>
                </c:pt>
                <c:pt idx="1">
                  <c:v>9.4</c:v>
                </c:pt>
                <c:pt idx="2">
                  <c:v>0.65</c:v>
                </c:pt>
                <c:pt idx="3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78-4355-A41C-8304DB1AE0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5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NPU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7A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1FC-47B3-8AEE-254D3B201E62}"/>
              </c:ext>
            </c:extLst>
          </c:dPt>
          <c:dPt>
            <c:idx val="1"/>
            <c:bubble3D val="0"/>
            <c:spPr>
              <a:solidFill>
                <a:srgbClr val="F3EC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FC-47B3-8AEE-254D3B201E62}"/>
              </c:ext>
            </c:extLst>
          </c:dPt>
          <c:cat>
            <c:strRef>
              <c:f>Sheet1!$A$2:$A$3</c:f>
              <c:strCache>
                <c:ptCount val="2"/>
                <c:pt idx="0">
                  <c:v>busy</c:v>
                </c:pt>
                <c:pt idx="1">
                  <c:v>free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FC-47B3-8AEE-254D3B201E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Frame buffers ×2</c:v>
                </c:pt>
              </c:strCache>
            </c:strRef>
          </c:tx>
          <c:spPr>
            <a:solidFill>
              <a:srgbClr val="3B1F5C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SRAM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91-4BEA-9DAD-74B31098FC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Shared NPU scratch</c:v>
                </c:pt>
              </c:strCache>
            </c:strRef>
          </c:tx>
          <c:spPr>
            <a:solidFill>
              <a:srgbClr val="FF7AB6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SRAM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91-4BEA-9DAD-74B31098FC6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Bunny model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SRAM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91-4BEA-9DAD-74B31098FC6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Face model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SRAM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391-4BEA-9DAD-74B31098FC6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Camera</c:v>
                </c:pt>
              </c:strCache>
            </c:strRef>
          </c:tx>
          <c:spPr>
            <a:solidFill>
              <a:srgbClr val="FFB703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SRAM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391-4BEA-9DAD-74B31098FC6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C9A6F2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SRAM</c:v>
                </c:pt>
              </c:strCache>
            </c: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391-4BEA-9DAD-74B31098FC6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15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594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</a:t>
            </a:r>
            <a:r>
              <a:rPr lang="en-US"/>
              <a:t>is Alfy. </a:t>
            </a:r>
            <a:r>
              <a:rPr lang="en-US" dirty="0"/>
              <a:t>Every frame of him is generated live by a neural network on the Ethos-U85, from 32 pose parameters, about 20 times a second. Nothing leaves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Inspiration: the 90s virtual pet. Alfy keeps the care and personality, but adds generative AI, vision and voice, all on a microcontroller. The organisers' brief described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Alfy has four senses, each powered by a model or a sensor, plus a personality engine with needs, moods and learning from petting.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kit: the Alif Ensemble E8 DevKit with its touchscreen. Every input Alfy uses is on this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mood is a combination of the 32 pose dials. In-between settings blend smoothly, so the network draws poses it never saw exactly in training.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Bright blocks are </a:t>
            </a:r>
            <a:r>
              <a:rPr lang="en-US"/>
              <a:t>what Alfy </a:t>
            </a:r>
            <a:r>
              <a:rPr lang="en-US" dirty="0"/>
              <a:t>uses: the Ethos-U85 NPU for all four models and the high-performance Cortex-M55 for everything else. Six on-board peripherals feed 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bunny is not pre-drawn. The CPU sets 32 pose dials, and a conditional decoder on the Ethos-U85 turns them into a 96x96 RGB image in 9.4 ms. NPU-friendly layers only: upsample plus 3x3 conv, no transposed conv, no GroupNorm. 16-bit activations (a16w8) because colours collapsed in plain int8. The bottom row is real training poses; in-between dial settings blend smoothly.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models run 100% on the Ethos-U85, int8 or int16, with only float-int conversion at the edges on the CPU. The NPU is busy about a quarter of each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Latencies from the board's NPU counters. Home world runs at 20 fps, camera world 12 to 15. The NPU is only busy about 25% of a frame: the bottleneck is CPU rendering, not AI. Soak test: 45 minutes, no 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models plus two frame buffers fit in 8 MB of on-chip SRAM because all models share one NPU scratch pool. The NPU could not read weights from upper flash, so models are copied into SRAM at boot.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Workload placement. The rubric rewards good decisions rather than maximum NPU use: we tested the U55, it works, but adding it needs a second firmware on the other M55 and 1.3 MB more SRAM, for a few fps. We chose a stable single-core, single-NPU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input goes through AI or the personality engine and comes out as an animated reaction, all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trained three of the four models. The bunny generator was trained on a dataset rendered from a vector rig of the character. Keyword spotter: 91.1% on Speech Commands test clips with noise. Doodle classifier: 96.4%. BlazeFace was exported and quantised for the U85.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hardest problems and how we solved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four models, all on the NPU</a:t>
            </a:r>
            <a:r>
              <a:rPr lang="en-US"/>
              <a:t>, Alfy </a:t>
            </a:r>
            <a:r>
              <a:rPr lang="en-US" dirty="0"/>
              <a:t>generated live at 20 fps, nothing leaves the device. Code, numbers and design decisions are in the README. Thank you,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A1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6F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5CF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6F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5.png"/><Relationship Id="rId5" Type="http://schemas.openxmlformats.org/officeDocument/2006/relationships/image" Target="../media/image15.png"/><Relationship Id="rId15" Type="http://schemas.openxmlformats.org/officeDocument/2006/relationships/image" Target="../media/image7.pn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9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640080"/>
            <a:ext cx="3840480" cy="384048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18872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14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bg1"/>
                </a:solidFill>
              </a:rPr>
              <a:t>Alfy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48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A generative AI companion that lives on the Alif Ensemble E8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</a:rPr>
              <a:t>Every frame drawn live by a neural network on the Ethos-U85. No cloud.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Abdul Mohammed  ·  Awab Ibrahim  ·  Arm + Meta ExecuTorch Edge AI Challenge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6F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From virtual pets to generative pets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25880" y="13716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15773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1990s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Pocket virtual pets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Tamagotchi: care for a creature on a tiny screen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44952" y="2194560"/>
            <a:ext cx="219456" cy="32004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60520" y="13716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15773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2010s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Cloud assistants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Smart, but your voice and camera go online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879592" y="2194560"/>
            <a:ext cx="219456" cy="32004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126480" y="11887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995160" y="137160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15773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2026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Alfy on the Alif E8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Generative, sees and hears, 100% on-device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The brief imagined: </a:t>
            </a:r>
            <a:r>
              <a:rPr lang="en-US" sz="1500" b="1" i="1" dirty="0">
                <a:solidFill>
                  <a:schemeClr val="accent1"/>
                </a:solidFill>
              </a:rPr>
              <a:t>“speaking to a device and watching it generate images”</a:t>
            </a:r>
            <a:r>
              <a:rPr lang="en-US" sz="1500" dirty="0">
                <a:solidFill>
                  <a:schemeClr val="tx2"/>
                </a:solidFill>
              </a:rPr>
              <a:t>  entirely at the edge. That is Alfy.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5CF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Meet Alfy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481328"/>
            <a:ext cx="2157984" cy="21579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887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36017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2070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Sees you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280160" y="15361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Face tracking, rides your shoulder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2743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914650"/>
            <a:ext cx="342900" cy="3429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27614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Hears you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1280160" y="309067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Push-to-talk voice, any voice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309360" y="11887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810" y="1360170"/>
            <a:ext cx="342900" cy="3429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132320" y="12070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Feels you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7132320" y="15361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Pet him, push him, shake him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309360" y="2743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0810" y="2914650"/>
            <a:ext cx="342900" cy="3429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132320" y="27614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Reads drawings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7132320" y="309067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Draw a fish, he eats it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1"/>
                </a:solidFill>
              </a:rPr>
              <a:t>Needs, moods and learning: pet him after a trick and he does it more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5CF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we built on</a:t>
            </a:r>
            <a:endParaRPr lang="en-US" sz="3600" dirty="0"/>
          </a:p>
        </p:txBody>
      </p:sp>
      <p:pic>
        <p:nvPicPr>
          <p:cNvPr id="3" name="Image 0" descr="/mnt/user-data/uploads/1792260779433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2880360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49040" y="1097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630" y="1245870"/>
            <a:ext cx="297180" cy="2971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480560" y="11155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Alif Ensemble E8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480560" y="1417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2× Cortex-M55, Ethos-U85, 2× Ethos-U55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355080" y="1097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670" y="1245870"/>
            <a:ext cx="297180" cy="2971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086600" y="11155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480×800 touchscreen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086600" y="1417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MIPI DSI panel + GT911 touch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749040" y="2331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7630" y="2480310"/>
            <a:ext cx="297180" cy="2971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480560" y="23500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MT9M114 camera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4480560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MIPI CSI, 640×480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355080" y="2331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670" y="2480310"/>
            <a:ext cx="297180" cy="2971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86600" y="23500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PDM microphones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7086600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8 kHz voice capture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3749040" y="3566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7630" y="3714750"/>
            <a:ext cx="297180" cy="2971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480560" y="35844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IMU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4480560" y="3886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accelerometer + gyroscope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355080" y="3566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3670" y="3714750"/>
            <a:ext cx="297180" cy="29718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086600" y="35844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Joystick + RGB LEDs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7086600" y="3886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push-to-talk, mood light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5CF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One network, every mood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234440"/>
            <a:ext cx="768096" cy="105156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261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1984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idle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252728" y="1234440"/>
            <a:ext cx="768096" cy="105156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1261872"/>
            <a:ext cx="694944" cy="6949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52728" y="1984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wave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093976" y="1234440"/>
            <a:ext cx="768096" cy="105156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0552" y="1261872"/>
            <a:ext cx="694944" cy="6949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93976" y="1984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hop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935224" y="1234440"/>
            <a:ext cx="768096" cy="105156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1261872"/>
            <a:ext cx="694944" cy="6949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935224" y="1984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run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3776472" y="1234440"/>
            <a:ext cx="768096" cy="105156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048" y="1261872"/>
            <a:ext cx="694944" cy="6949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776472" y="1984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shaken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4617720" y="1234440"/>
            <a:ext cx="768096" cy="105156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4296" y="1261872"/>
            <a:ext cx="694944" cy="6949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617720" y="1984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sleep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5458968" y="1234440"/>
            <a:ext cx="768096" cy="105156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5544" y="1261872"/>
            <a:ext cx="694944" cy="69494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458968" y="1984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sad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6300216" y="1234440"/>
            <a:ext cx="768096" cy="105156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6792" y="1261872"/>
            <a:ext cx="694944" cy="694944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300216" y="1984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yawn</a:t>
            </a:r>
            <a:endParaRPr lang="en-US" sz="1100" dirty="0"/>
          </a:p>
        </p:txBody>
      </p:sp>
      <p:sp>
        <p:nvSpPr>
          <p:cNvPr id="27" name="Shape 17"/>
          <p:cNvSpPr/>
          <p:nvPr/>
        </p:nvSpPr>
        <p:spPr>
          <a:xfrm>
            <a:off x="7141464" y="1234440"/>
            <a:ext cx="768096" cy="105156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8040" y="1261872"/>
            <a:ext cx="694944" cy="694944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7141464" y="1984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love</a:t>
            </a:r>
            <a:endParaRPr lang="en-US" sz="1100" dirty="0"/>
          </a:p>
        </p:txBody>
      </p:sp>
      <p:sp>
        <p:nvSpPr>
          <p:cNvPr id="30" name="Shape 19"/>
          <p:cNvSpPr/>
          <p:nvPr/>
        </p:nvSpPr>
        <p:spPr>
          <a:xfrm>
            <a:off x="7982712" y="1234440"/>
            <a:ext cx="768096" cy="105156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9288" y="1261872"/>
            <a:ext cx="694944" cy="694944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7982712" y="1984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angry</a:t>
            </a:r>
            <a:endParaRPr lang="en-US" sz="1100" dirty="0"/>
          </a:p>
        </p:txBody>
      </p:sp>
      <p:sp>
        <p:nvSpPr>
          <p:cNvPr id="33" name="Shape 21"/>
          <p:cNvSpPr/>
          <p:nvPr/>
        </p:nvSpPr>
        <p:spPr>
          <a:xfrm>
            <a:off x="685800" y="3154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390" y="3303270"/>
            <a:ext cx="297180" cy="29718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320040" y="38221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Touch</a:t>
            </a:r>
            <a:endParaRPr lang="en-US" sz="1200" dirty="0"/>
          </a:p>
        </p:txBody>
      </p:sp>
      <p:sp>
        <p:nvSpPr>
          <p:cNvPr id="36" name="Shape 23"/>
          <p:cNvSpPr/>
          <p:nvPr/>
        </p:nvSpPr>
        <p:spPr>
          <a:xfrm>
            <a:off x="2331720" y="3154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80310" y="3303270"/>
            <a:ext cx="297180" cy="29718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1965960" y="38221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Motion (IMU)</a:t>
            </a:r>
            <a:endParaRPr lang="en-US" sz="1200" dirty="0"/>
          </a:p>
        </p:txBody>
      </p:sp>
      <p:sp>
        <p:nvSpPr>
          <p:cNvPr id="39" name="Shape 25"/>
          <p:cNvSpPr/>
          <p:nvPr/>
        </p:nvSpPr>
        <p:spPr>
          <a:xfrm>
            <a:off x="3977640" y="3154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26230" y="3303270"/>
            <a:ext cx="297180" cy="29718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3611880" y="38221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Voice</a:t>
            </a:r>
            <a:endParaRPr lang="en-US" sz="1200" dirty="0"/>
          </a:p>
        </p:txBody>
      </p:sp>
      <p:sp>
        <p:nvSpPr>
          <p:cNvPr id="42" name="Shape 27"/>
          <p:cNvSpPr/>
          <p:nvPr/>
        </p:nvSpPr>
        <p:spPr>
          <a:xfrm>
            <a:off x="5623560" y="3154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72150" y="3303270"/>
            <a:ext cx="297180" cy="297180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5257800" y="38221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Camera</a:t>
            </a:r>
            <a:endParaRPr lang="en-US" sz="1200" dirty="0"/>
          </a:p>
        </p:txBody>
      </p:sp>
      <p:sp>
        <p:nvSpPr>
          <p:cNvPr id="45" name="Shape 29"/>
          <p:cNvSpPr/>
          <p:nvPr/>
        </p:nvSpPr>
        <p:spPr>
          <a:xfrm>
            <a:off x="7269480" y="3154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18070" y="3303270"/>
            <a:ext cx="297180" cy="297180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6903720" y="38221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Time and needs</a:t>
            </a:r>
            <a:endParaRPr lang="en-US" sz="1200" dirty="0"/>
          </a:p>
        </p:txBody>
      </p:sp>
      <p:sp>
        <p:nvSpPr>
          <p:cNvPr id="48" name="Text 31"/>
          <p:cNvSpPr txBox="1"/>
          <p:nvPr/>
        </p:nvSpPr>
        <p:spPr>
          <a:xfrm>
            <a:off x="45720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Real poses from the generator’s training set. Sensors and moods turn 32 dials; the NPU draws the in-betweens.</a:t>
            </a:r>
            <a:endParaRPr lang="en-US" sz="10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6F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hardware: Alif Ensemble E8 DevKit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606040" y="1097280"/>
            <a:ext cx="393192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743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Ensemble E8 chip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88920" y="1600200"/>
            <a:ext cx="356616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880360" y="16002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Ethos-U85 NPU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all 4 models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88920" y="23774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880360" y="2377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Cortex-M55 HP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400 MHz · brain + render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23774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accent6">
              <a:alpha val="65000"/>
            </a:schemeClr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09160" y="2377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Cortex-M55 HE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160 MHz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88920" y="315468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accent6">
              <a:alpha val="65000"/>
            </a:schemeClr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880360" y="3154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2× Ethos-U55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tested, not used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7720" y="315468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accent6">
              <a:alpha val="65000"/>
            </a:schemeClr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709160" y="3154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2× Cortex-A32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unused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88920" y="3794760"/>
            <a:ext cx="35661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880360" y="3794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8 MB SRAM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7.86 MB used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2688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32588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365760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MT9M114 camera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32688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37744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65760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PDM microphones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32688" y="3291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342900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65760" y="3886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IMU motion sensor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379208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132588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812280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480×800 touch display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379208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368" y="237744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812280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Joystick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7379208" y="3291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368" y="342900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12280" y="3886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RGB LEDs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274320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tx1"/>
                </a:solidFill>
              </a:rPr>
              <a:t>Bright = used by Alfy</a:t>
            </a:r>
            <a:endParaRPr lang="en-US" sz="10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5CF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234958895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Four models, one NPU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1965960" cy="342900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1280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90" y="14516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Bunny generator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1"/>
                </a:solidFill>
              </a:rPr>
              <a:t>Conditional decoder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32 dials → 96×96 RGB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91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9.4 ms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every frame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187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100% NPU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96312" y="1143000"/>
            <a:ext cx="1965960" cy="342900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36392" y="12801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842" y="145161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587752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Face detector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587752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1"/>
                </a:solidFill>
              </a:rPr>
              <a:t>BlazeFace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587752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128×128 camera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2587752" y="3291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10.3 ms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2587752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every 2nd frame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2587752" y="4187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100% NPU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626864" y="1143000"/>
            <a:ext cx="1965960" cy="342900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266944" y="12801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394" y="1451610"/>
            <a:ext cx="342900" cy="3429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718304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Keyword spotter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4718304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1"/>
                </a:solidFill>
              </a:rPr>
              <a:t>DS-CNN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718304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49×40 log-mel → 11 words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4718304" y="3291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0.65 ms</a:t>
            </a:r>
            <a:endParaRPr lang="en-US" sz="3000" dirty="0"/>
          </a:p>
        </p:txBody>
      </p:sp>
      <p:sp>
        <p:nvSpPr>
          <p:cNvPr id="28" name="Text 23"/>
          <p:cNvSpPr txBox="1"/>
          <p:nvPr/>
        </p:nvSpPr>
        <p:spPr>
          <a:xfrm>
            <a:off x="4718304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per command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4718304" y="4187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100% NPU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757416" y="1143000"/>
            <a:ext cx="1965960" cy="342900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7397496" y="128016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8946" y="1451610"/>
            <a:ext cx="342900" cy="3429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848856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Doodle reader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6848856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1"/>
                </a:solidFill>
              </a:rPr>
              <a:t>CNN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848856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28×28 → 8 drawings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6848856" y="3291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0.23 ms</a:t>
            </a:r>
            <a:endParaRPr lang="en-US" sz="3000" dirty="0"/>
          </a:p>
        </p:txBody>
      </p:sp>
      <p:sp>
        <p:nvSpPr>
          <p:cNvPr id="37" name="Text 31"/>
          <p:cNvSpPr txBox="1"/>
          <p:nvPr/>
        </p:nvSpPr>
        <p:spPr>
          <a:xfrm>
            <a:off x="6848856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per drawing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6848856" y="4187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100% NPU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5CF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Performance on the board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5156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5394960" y="1051560"/>
          <a:ext cx="164592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39496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~25%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530352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NPU duty per frame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722376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20 fps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7223760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home world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22376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12–15 fps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2350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camera world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~29 ms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3218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voice compute after you speak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977640"/>
            <a:ext cx="84124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41948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40233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45-minute soak test: 0 reboots, 0 faults, 0 NPU errors. 3 s hardware watchdog. Doodles 12/12 recognised.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5CF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Fitting it all in 8 MB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7.86 MB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8 MB on-chip SRAM used (98%)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2377440"/>
          <a:ext cx="841248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17720" y="10972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50" y="122301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114800" y="16459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One NPU scratch pool shared by all 4 models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217920" y="10972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22301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0" y="16459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Models copied to SRAM at boot (fixed NPU bus abort)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818120" y="10972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3850" y="1223010"/>
            <a:ext cx="251460" cy="2514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15200" y="16459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MRAM: 2.25 MB of 5.5 MB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5CF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runs where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10312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Ethos-U85 NPU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06040" y="1097280"/>
            <a:ext cx="142189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679192" y="1097280"/>
            <a:ext cx="1275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Bunny generator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37660" y="1097280"/>
            <a:ext cx="142189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210812" y="1097280"/>
            <a:ext cx="1275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Face detector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097280"/>
            <a:ext cx="142189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742432" y="1097280"/>
            <a:ext cx="1275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Keyword spotter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00900" y="1097280"/>
            <a:ext cx="142189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274052" y="1097280"/>
            <a:ext cx="1275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Doodle reader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21408"/>
            <a:ext cx="210312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57200" y="212140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Cortex-M55 HP · 400 MHz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06040" y="2121408"/>
            <a:ext cx="142189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679192" y="2121408"/>
            <a:ext cx="1275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Personality engine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37660" y="2121408"/>
            <a:ext cx="142189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210812" y="2121408"/>
            <a:ext cx="1275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96→448 px upscale + outline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2121408"/>
            <a:ext cx="142189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742432" y="2121408"/>
            <a:ext cx="1275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Audio front end (FFT, log-mel)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00900" y="2121408"/>
            <a:ext cx="142189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274052" y="2121408"/>
            <a:ext cx="1275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UI, motion clips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145536"/>
            <a:ext cx="210312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57200" y="314553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Dedicated hardware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606040" y="3145536"/>
            <a:ext cx="193243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2679192" y="3145536"/>
            <a:ext cx="1786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Camera: CPI + DMA, async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48200" y="3145536"/>
            <a:ext cx="193243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721352" y="3145536"/>
            <a:ext cx="1786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Display: CDC200, vsync swap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90360" y="3145536"/>
            <a:ext cx="193243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763512" y="3145536"/>
            <a:ext cx="1786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Touch, IMU, LEDs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160520"/>
            <a:ext cx="8412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Design choice: </a:t>
            </a:r>
            <a:r>
              <a:rPr lang="en-US" sz="1200" dirty="0">
                <a:solidFill>
                  <a:schemeClr val="tx2"/>
                </a:solidFill>
              </a:rPr>
              <a:t>we tested the Ethos-U55 (385 µs vs 249 µs on U85) but kept one NPU: it is only ~25% busy, and a second core would cost 1.3 MB we don't have.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5CF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Sense → AI → reaction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1239012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972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Hold joystick, say “happy”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206240" y="1170432"/>
            <a:ext cx="2194560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206240" y="117043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Keyword spotter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37960" y="1261872"/>
            <a:ext cx="365760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086600" y="1060704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078992"/>
            <a:ext cx="548640" cy="548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18288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" y="1970532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18288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Face in camera + “up”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206240" y="1901952"/>
            <a:ext cx="2194560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 txBox="1"/>
          <p:nvPr/>
        </p:nvSpPr>
        <p:spPr>
          <a:xfrm>
            <a:off x="4206240" y="19019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BlazeFace + voice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537960" y="1993392"/>
            <a:ext cx="365760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086600" y="1792224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1810512"/>
            <a:ext cx="548640" cy="5486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57200" y="256032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" y="270205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25603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Draw a fish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206240" y="2633472"/>
            <a:ext cx="2194560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 txBox="1"/>
          <p:nvPr/>
        </p:nvSpPr>
        <p:spPr>
          <a:xfrm>
            <a:off x="4206240" y="2633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Doodle reader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537960" y="2724912"/>
            <a:ext cx="365760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7086600" y="2523744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2542032"/>
            <a:ext cx="548640" cy="5486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57200" y="3291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932" y="3433572"/>
            <a:ext cx="283464" cy="283464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188720" y="32918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Shake the board</a:t>
            </a:r>
            <a:endParaRPr lang="en-US" sz="1500" dirty="0"/>
          </a:p>
        </p:txBody>
      </p:sp>
      <p:sp>
        <p:nvSpPr>
          <p:cNvPr id="30" name="Shape 21"/>
          <p:cNvSpPr/>
          <p:nvPr/>
        </p:nvSpPr>
        <p:spPr>
          <a:xfrm>
            <a:off x="4206240" y="3364992"/>
            <a:ext cx="2194560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2"/>
          <p:cNvSpPr txBox="1"/>
          <p:nvPr/>
        </p:nvSpPr>
        <p:spPr>
          <a:xfrm>
            <a:off x="4206240" y="33649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IMU on the CPU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537960" y="3456432"/>
            <a:ext cx="365760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4"/>
          <p:cNvSpPr/>
          <p:nvPr/>
        </p:nvSpPr>
        <p:spPr>
          <a:xfrm>
            <a:off x="7086600" y="3255264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0" y="3273552"/>
            <a:ext cx="548640" cy="54864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457200" y="40233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932" y="4165092"/>
            <a:ext cx="283464" cy="283464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1188720" y="40233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Touch Alfy</a:t>
            </a:r>
            <a:endParaRPr lang="en-US" sz="1500" dirty="0"/>
          </a:p>
        </p:txBody>
      </p:sp>
      <p:sp>
        <p:nvSpPr>
          <p:cNvPr id="38" name="Shape 27"/>
          <p:cNvSpPr/>
          <p:nvPr/>
        </p:nvSpPr>
        <p:spPr>
          <a:xfrm>
            <a:off x="4206240" y="4096512"/>
            <a:ext cx="2194560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8"/>
          <p:cNvSpPr txBox="1"/>
          <p:nvPr/>
        </p:nvSpPr>
        <p:spPr>
          <a:xfrm>
            <a:off x="4206240" y="409651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Personality engine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6537960" y="4187952"/>
            <a:ext cx="365760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0"/>
          <p:cNvSpPr/>
          <p:nvPr/>
        </p:nvSpPr>
        <p:spPr>
          <a:xfrm>
            <a:off x="7086600" y="3986784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4005072"/>
            <a:ext cx="548640" cy="54864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7772400" y="10972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dances</a:t>
            </a:r>
            <a:endParaRPr lang="en-US" sz="1100" dirty="0"/>
          </a:p>
        </p:txBody>
      </p:sp>
      <p:sp>
        <p:nvSpPr>
          <p:cNvPr id="44" name="Text 32"/>
          <p:cNvSpPr txBox="1"/>
          <p:nvPr/>
        </p:nvSpPr>
        <p:spPr>
          <a:xfrm>
            <a:off x="7772400" y="18288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jumps on your shoulder</a:t>
            </a:r>
            <a:endParaRPr lang="en-US" sz="1100" dirty="0"/>
          </a:p>
        </p:txBody>
      </p:sp>
      <p:sp>
        <p:nvSpPr>
          <p:cNvPr id="45" name="Text 33"/>
          <p:cNvSpPr txBox="1"/>
          <p:nvPr/>
        </p:nvSpPr>
        <p:spPr>
          <a:xfrm>
            <a:off x="7772400" y="25603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eats it, food meter fills</a:t>
            </a:r>
            <a:endParaRPr lang="en-US" sz="1100" dirty="0"/>
          </a:p>
        </p:txBody>
      </p:sp>
      <p:sp>
        <p:nvSpPr>
          <p:cNvPr id="46" name="Text 34"/>
          <p:cNvSpPr txBox="1"/>
          <p:nvPr/>
        </p:nvSpPr>
        <p:spPr>
          <a:xfrm>
            <a:off x="7772400" y="32918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gets dizzy</a:t>
            </a:r>
            <a:endParaRPr lang="en-US" sz="1100" dirty="0"/>
          </a:p>
        </p:txBody>
      </p:sp>
      <p:sp>
        <p:nvSpPr>
          <p:cNvPr id="47" name="Text 35"/>
          <p:cNvSpPr txBox="1"/>
          <p:nvPr/>
        </p:nvSpPr>
        <p:spPr>
          <a:xfrm>
            <a:off x="7772400" y="40233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hearts, LED pink</a:t>
            </a:r>
            <a:endParaRPr lang="en-US" sz="11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6F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Training the models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Bunny generator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691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Trained by us on images rendered from a vector rig of Alfy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108960" y="1554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1.63 MB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13716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15316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Keyword spotter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1691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Google Speech Commands, resampled to 8 kHz + noise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1554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91.1%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365760" y="283464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48640" y="30632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2232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Doodle reader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371600" y="3383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Google Quick, Draw!, 8 classes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3108960" y="3246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96.4%</a:t>
            </a: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4663440" y="283464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846320" y="3063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6340" y="32232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6928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Face detector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669280" y="3383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Google BlazeFace, exported + quantised for the U85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406640" y="3246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10.3 ms</a:t>
            </a:r>
            <a:endParaRPr lang="en-US" sz="2400" dirty="0"/>
          </a:p>
        </p:txBody>
      </p:sp>
      <p:sp>
        <p:nvSpPr>
          <p:cNvPr id="27" name="Text 21"/>
          <p:cNvSpPr txBox="1"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PyTorch → ExecuTorch → Vela → Ethos-U85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5CF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Hard problems we solved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965960" cy="3108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13716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90" y="15430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1945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Problem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423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Colours collapsed in int8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1546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Fix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383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16-bit activations (a16w8) + clamp head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496312" y="1188720"/>
            <a:ext cx="1965960" cy="3108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136392" y="13716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842" y="154305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33472" y="21945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Problem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2633472" y="2423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NPU bus abort reading flash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633472" y="31546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Fix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2633472" y="3383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Copy models to SRAM at boot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626864" y="1188720"/>
            <a:ext cx="1965960" cy="3108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266944" y="13716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394" y="154305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64024" y="21945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Problem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764024" y="2423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4 models in 8 MB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764024" y="31546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Fix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4764024" y="3383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One shared NPU scratch pool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757416" y="1188720"/>
            <a:ext cx="1965960" cy="3108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B1F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397496" y="13716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8946" y="1543050"/>
            <a:ext cx="342900" cy="3429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894576" y="21945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Problem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6894576" y="2423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Voice v1 only knew one person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894576" y="31546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Fix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894576" y="3383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Trained a real keyword model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5CF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All on the board. No cloud.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AI models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on the NPU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20 fps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generated live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bytes sent off-device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60920" y="868680"/>
            <a:ext cx="1554480" cy="155448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097280"/>
            <a:ext cx="1097280" cy="10972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bg1"/>
                </a:solidFill>
              </a:rPr>
              <a:t>Code: </a:t>
            </a:r>
            <a:r>
              <a:rPr lang="en-US" sz="1300" u="sng" dirty="0">
                <a:solidFill>
                  <a:schemeClr val="accent5"/>
                </a:solidFill>
              </a:rPr>
              <a:t>https://github.com/</a:t>
            </a:r>
            <a:r>
              <a:rPr lang="en-US" sz="1300" u="sng" dirty="0" err="1">
                <a:solidFill>
                  <a:schemeClr val="accent5"/>
                </a:solidFill>
              </a:rPr>
              <a:t>aabdurmohammed</a:t>
            </a:r>
            <a:r>
              <a:rPr lang="en-US" sz="1300" u="sng" dirty="0">
                <a:solidFill>
                  <a:schemeClr val="accent5"/>
                </a:solidFill>
              </a:rPr>
              <a:t>-source/CMSIS-</a:t>
            </a:r>
            <a:r>
              <a:rPr lang="en-US" sz="1300" u="sng" dirty="0" err="1">
                <a:solidFill>
                  <a:schemeClr val="accent5"/>
                </a:solidFill>
              </a:rPr>
              <a:t>Executorch</a:t>
            </a:r>
            <a:r>
              <a:rPr lang="en-US" sz="1300" dirty="0">
                <a:solidFill>
                  <a:schemeClr val="bg1"/>
                </a:solidFill>
              </a:rPr>
              <a:t>·  branch Alfy  ·  tag v1.0-demo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Built with: </a:t>
            </a:r>
            <a:r>
              <a:rPr lang="en-US" sz="1200" dirty="0">
                <a:solidFill>
                  <a:schemeClr val="accent5"/>
                </a:solidFill>
              </a:rPr>
              <a:t>PyTorch, ExecuTorch, Vela, CMSIS-Toolbox, Arm CMSIS-Executorch example, Alif Ensemble E8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Data and models: </a:t>
            </a:r>
            <a:r>
              <a:rPr lang="en-US" sz="1200" dirty="0">
                <a:solidFill>
                  <a:schemeClr val="accent5"/>
                </a:solidFill>
              </a:rPr>
              <a:t>Google Speech Commands, Quick, Draw! (CC BY 4.0), BlazeFace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Inspiration: </a:t>
            </a:r>
            <a:r>
              <a:rPr lang="en-US" sz="1200" dirty="0">
                <a:solidFill>
                  <a:schemeClr val="accent5"/>
                </a:solidFill>
              </a:rPr>
              <a:t>1990s virtual pets (Tamagotchi)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Abdul Mohammed · Awab Ibrahim  ·  all-student team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6F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f Purple">
  <a:themeElements>
    <a:clrScheme name="Alf Purple">
      <a:dk1>
        <a:srgbClr val="1F1530"/>
      </a:dk1>
      <a:lt1>
        <a:srgbClr val="FFFFFF"/>
      </a:lt1>
      <a:dk2>
        <a:srgbClr val="2A1546"/>
      </a:dk2>
      <a:lt2>
        <a:srgbClr val="F3ECFD"/>
      </a:lt2>
      <a:accent1>
        <a:srgbClr val="8B5CF6"/>
      </a:accent1>
      <a:accent2>
        <a:srgbClr val="FF7AB6"/>
      </a:accent2>
      <a:accent3>
        <a:srgbClr val="2EC4B6"/>
      </a:accent3>
      <a:accent4>
        <a:srgbClr val="FFB703"/>
      </a:accent4>
      <a:accent5>
        <a:srgbClr val="C9A6F2"/>
      </a:accent5>
      <a:accent6>
        <a:srgbClr val="3B1F5C"/>
      </a:accent6>
      <a:hlink>
        <a:srgbClr val="8B5CF6"/>
      </a:hlink>
      <a:folHlink>
        <a:srgbClr val="6D3FD0"/>
      </a:folHlink>
    </a:clrScheme>
    <a:fontScheme name="Alf Purpl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1439</Words>
  <Application>Microsoft Office PowerPoint</Application>
  <PresentationFormat>On-screen Show (16:9)</PresentationFormat>
  <Paragraphs>239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Alf Purple</vt:lpstr>
      <vt:lpstr>PowerPoint Presentation</vt:lpstr>
      <vt:lpstr>From virtual pets to generative pets</vt:lpstr>
      <vt:lpstr>Meet Alfy</vt:lpstr>
      <vt:lpstr>What we built on</vt:lpstr>
      <vt:lpstr>One network, every mood</vt:lpstr>
      <vt:lpstr>The hardware: Alif Ensemble E8 DevKit</vt:lpstr>
      <vt:lpstr>PowerPoint Presentation</vt:lpstr>
      <vt:lpstr>Four models, one NPU</vt:lpstr>
      <vt:lpstr>Performance on the board</vt:lpstr>
      <vt:lpstr>Fitting it all in 8 MB</vt:lpstr>
      <vt:lpstr>What runs where</vt:lpstr>
      <vt:lpstr>Sense → AI → reaction</vt:lpstr>
      <vt:lpstr>Training the models</vt:lpstr>
      <vt:lpstr>Hard problems we solved</vt:lpstr>
      <vt:lpstr>All on the board. No cloud.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Alf: a generative AI companion on the Alif E8</dc:title>
  <dc:subject>PptxGenJS Presentation</dc:subject>
  <dc:creator>Abdul Mohammed, Awab Ibrahim</dc:creator>
  <cp:lastModifiedBy>Mohammed, Abdul-rahman</cp:lastModifiedBy>
  <cp:revision>3</cp:revision>
  <dcterms:created xsi:type="dcterms:W3CDTF">2026-10-18T18:58:53Z</dcterms:created>
  <dcterms:modified xsi:type="dcterms:W3CDTF">2026-10-18T22:05:40Z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c50c7b0-9e53-455f-9b3f-deab1aa8a41e_Enabled">
    <vt:lpwstr>true</vt:lpwstr>
  </property>
  <property fmtid="{D5CDD505-2E9C-101B-9397-08002B2CF9AE}" pid="3" name="MSIP_Label_bc50c7b0-9e53-455f-9b3f-deab1aa8a41e_SetDate">
    <vt:lpwstr>2026-10-18T22:05:40Z</vt:lpwstr>
  </property>
  <property fmtid="{D5CDD505-2E9C-101B-9397-08002B2CF9AE}" pid="4" name="MSIP_Label_bc50c7b0-9e53-455f-9b3f-deab1aa8a41e_Method">
    <vt:lpwstr>Standard</vt:lpwstr>
  </property>
  <property fmtid="{D5CDD505-2E9C-101B-9397-08002B2CF9AE}" pid="5" name="MSIP_Label_bc50c7b0-9e53-455f-9b3f-deab1aa8a41e_Name">
    <vt:lpwstr>defa4170-0d19-0005-0004-bc88714345d2</vt:lpwstr>
  </property>
  <property fmtid="{D5CDD505-2E9C-101B-9397-08002B2CF9AE}" pid="6" name="MSIP_Label_bc50c7b0-9e53-455f-9b3f-deab1aa8a41e_SiteId">
    <vt:lpwstr>7cc8e357-468d-472c-a6fc-c5600e789b55</vt:lpwstr>
  </property>
  <property fmtid="{D5CDD505-2E9C-101B-9397-08002B2CF9AE}" pid="7" name="MSIP_Label_bc50c7b0-9e53-455f-9b3f-deab1aa8a41e_ActionId">
    <vt:lpwstr>25e0d304-a09a-4115-9a00-4aa3fe6afc3a</vt:lpwstr>
  </property>
  <property fmtid="{D5CDD505-2E9C-101B-9397-08002B2CF9AE}" pid="8" name="MSIP_Label_bc50c7b0-9e53-455f-9b3f-deab1aa8a41e_ContentBits">
    <vt:lpwstr>0</vt:lpwstr>
  </property>
  <property fmtid="{D5CDD505-2E9C-101B-9397-08002B2CF9AE}" pid="9" name="MSIP_Label_bc50c7b0-9e53-455f-9b3f-deab1aa8a41e_Tag">
    <vt:lpwstr>10, 3, 0, 1</vt:lpwstr>
  </property>
</Properties>
</file>